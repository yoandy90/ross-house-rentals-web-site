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UNIVERSIDADES EN ESTADOS UNIDOS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FB703"/>
                </a:solidFill>
                <a:latin typeface="Calibri"/>
              </a:defRPr>
            </a:pPr>
            <a:r>
              <a:t>Las Mejores  |  Las Más Caras  |  Astronomía &amp; Astrofísica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3474720"/>
            <a:ext cx="3657600" cy="36576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778DA9"/>
                </a:solidFill>
                <a:latin typeface="Calibri"/>
              </a:defRPr>
            </a:pPr>
            <a:r>
              <a:t>Guía Completa para la Familia Ross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Febrero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CONTENIDO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64008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B703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325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Calibri"/>
              </a:defRPr>
            </a:pPr>
            <a:r>
              <a:t>Las 10 Mejores Universidades de EEUU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691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Rankings generales 2025-2026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194560"/>
            <a:ext cx="64008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B703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48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Calibri"/>
              </a:defRPr>
            </a:pPr>
            <a:r>
              <a:t>Las Universidades Más Caras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514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Comparativa de costos anuales y totales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017520"/>
            <a:ext cx="64008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B703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971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Calibri"/>
              </a:defRPr>
            </a:pPr>
            <a:r>
              <a:t>Top 15 para Astronomía &amp; Astrofísica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3375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Programas especializados en astronomía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840480"/>
            <a:ext cx="64008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B703"/>
                </a:solidFill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794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Calibri"/>
              </a:defRPr>
            </a:pPr>
            <a:r>
              <a:t>Tabla Comparativa de Costos (Astronomía)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160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Matrícula residente vs no-residente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663440"/>
            <a:ext cx="64008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B703"/>
                </a:solidFill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Calibri"/>
              </a:defRPr>
            </a:pPr>
            <a:r>
              <a:t>Mejores Opciones por Categoría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983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Recomendaciones según prioridades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486400"/>
            <a:ext cx="64008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000" b="1">
                <a:solidFill>
                  <a:srgbClr val="FFB703"/>
                </a:solidFill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440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Calibri"/>
              </a:defRPr>
            </a:pPr>
            <a:r>
              <a:t>Próximos Pasos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806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Plan de acción sugerido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LAS 10 MEJORES UNIVERSIDADES DE EEUU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57200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703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703"/>
                </a:solidFill>
                <a:latin typeface="Calibri"/>
              </a:defRPr>
            </a:pPr>
            <a:r>
              <a:t>Universidad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703"/>
                </a:solidFill>
                <a:latin typeface="Calibri"/>
              </a:defRPr>
            </a:pPr>
            <a:r>
              <a:t>Ubicación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3258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B703"/>
                </a:solidFill>
                <a:latin typeface="Calibri"/>
              </a:defRPr>
            </a:pPr>
            <a:r>
              <a:t>Fortalezas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457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70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MIT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Cambridge, 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18288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Ingeniería, Ciencias, Tech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58568"/>
            <a:ext cx="10698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04287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70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0428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Stanford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0428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Stanford, 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2304287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Tech, Negocios, Medicina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734056"/>
            <a:ext cx="10698480" cy="457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779775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B70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77977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Harvard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77977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Cambridge, 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2779775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Derecho, Medicina, Ciencias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09544"/>
            <a:ext cx="10698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55263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25526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Caltech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25526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Pasadena, 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255263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Ciencias, Ingeniería, Astro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85031"/>
            <a:ext cx="10698480" cy="457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73075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73075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Princeton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73075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Princeton, NJ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730751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Matemáticas, Física, Econ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160519"/>
            <a:ext cx="10698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20623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2062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U. of Chicago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206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Chicago, IL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420623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Economía, Física, Derecho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636007"/>
            <a:ext cx="10698480" cy="457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681727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4681727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Yale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0" y="468172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New Haven, 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98079" y="4681727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Derecho, Artes, Humanidades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111495"/>
            <a:ext cx="10698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157215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5157215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Columbia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515721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New York, NY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5157215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Periodismo, Negocios, Artes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" y="5586983"/>
            <a:ext cx="10698480" cy="45720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632703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71600" y="563270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UPenn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563270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Philadelphia, PA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5632703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Negocios (Wharton), Medicina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31520" y="6062471"/>
            <a:ext cx="10698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610819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33333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1600" y="61081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Duke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610819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Durham, NC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6108191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Medicina, Derecho, Ciencias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72083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Fuente: QS World University Rankings, US News &amp; World Report 2025-2026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LAS UNIVERSIDADES MÁS CARAS DE EEUU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45720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Universidad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Matrícula/Año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Costo Total 4 Años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325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Conocida Por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4572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Columbia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$69,045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~$276,000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8288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Ivy League, NYC, artes y ciencias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58568"/>
            <a:ext cx="10698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0428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U. of Chicago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30428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$66,939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30428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~$268,000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304287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Economía, física, Nobel prizes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734056"/>
            <a:ext cx="10698480" cy="4572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77977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USC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77977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~$67,000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77977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~$268,000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2779775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Cine, negocios, ingeniería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09544"/>
            <a:ext cx="10698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5526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Cornell University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3255263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$65,204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325526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~$261,000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255263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Ivy League, veterinaria, ingeniería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685031"/>
            <a:ext cx="10698480" cy="4572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73075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Yale University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373075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~$64,700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730751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~$259,000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3730751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Derecho, artes, humanidades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160519"/>
            <a:ext cx="10698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20623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Caltech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2062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$63,402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0" y="42062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~$254,000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4206239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Ciencias, ingeniería, NASA JPL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636007"/>
            <a:ext cx="10698480" cy="4572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68172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Stanford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4681727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$62,484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0" y="4681727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~$250,000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0" y="4681727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Tech, negocios, medicina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5111495"/>
            <a:ext cx="1069848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157215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MIT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5157215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74C3C"/>
                </a:solidFill>
                <a:latin typeface="Calibri"/>
              </a:defRPr>
            </a:pPr>
            <a:r>
              <a:t>$61,990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5157215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~$248,000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0" y="5157215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15A77"/>
                </a:solidFill>
                <a:latin typeface="Calibri"/>
              </a:defRPr>
            </a:pPr>
            <a:r>
              <a:t>Ingeniería, tech, ciencias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71600" y="5861303"/>
            <a:ext cx="9144000" cy="73152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8B6A00"/>
                </a:solidFill>
              </a:defRPr>
            </a:pPr>
            <a:r>
              <a:t>IMPORTANTE: La mayoría de estas universidades ofrecen ayuda financiera generosa.</a:t>
            </a:r>
          </a:p>
          <a:p>
            <a:pPr>
              <a:defRPr sz="1200">
                <a:solidFill>
                  <a:srgbClr val="8B6A00"/>
                </a:solidFill>
              </a:defRPr>
            </a:pPr>
            <a:r>
              <a:t>Harvard/MIT/Princeton: Familias con ingresos &lt; $100K/año pueden estudiar GRATIS.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TOP UNIVERSIDADES PARA ASTRONOMÍA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B703"/>
                </a:solidFill>
                <a:latin typeface="Calibri"/>
              </a:defRPr>
            </a:pPr>
            <a:r>
              <a:t>Universidades Privadas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1612880" cy="411480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16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703"/>
                </a:solidFill>
                <a:latin typeface="Calibri"/>
              </a:defRPr>
            </a:pPr>
            <a:r>
              <a:t>Universidad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216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703"/>
                </a:solidFill>
                <a:latin typeface="Calibri"/>
              </a:defRPr>
            </a:pPr>
            <a:r>
              <a:t>Ubicación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16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703"/>
                </a:solidFill>
                <a:latin typeface="Calibri"/>
              </a:defRPr>
            </a:pPr>
            <a:r>
              <a:t>Matrícula/Año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2161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703"/>
                </a:solidFill>
                <a:latin typeface="Calibri"/>
              </a:defRPr>
            </a:pPr>
            <a:r>
              <a:t>Aceptación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2161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703"/>
                </a:solidFill>
                <a:latin typeface="Calibri"/>
              </a:defRPr>
            </a:pPr>
            <a:r>
              <a:t>Costo 4 Años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2161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703"/>
                </a:solidFill>
                <a:latin typeface="Calibri"/>
              </a:defRPr>
            </a:pPr>
            <a:r>
              <a:t>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2161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B703"/>
                </a:solidFill>
                <a:latin typeface="Calibri"/>
              </a:defRPr>
            </a:pPr>
            <a:r>
              <a:t>Puntos Destacados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627632"/>
            <a:ext cx="11612880" cy="5029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6733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673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Cambridge, 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6733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$61,990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673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3.9%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6733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~$248K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673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#1 QS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673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Kavli Institute, NASA labs, 93% recibe ayuda financiera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157984"/>
            <a:ext cx="116128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20370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Harvard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20370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Cambridge, 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20370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$59,076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203703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3.6%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20370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~$236K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203703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#2 QS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203703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Harvard-Smithsonian CfA, observatorio propio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2688336"/>
            <a:ext cx="11612880" cy="5029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7340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Caltech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27340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Pasadena, 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27340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$63,402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27340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3.1%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73405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~$254K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7340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#3 EduRank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73405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Observatorios Palomar &amp; Keck, NASA JPL, ratio 3:1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3218688"/>
            <a:ext cx="116128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2644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Princeton University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32644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Princeton, NJ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32644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$59,710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32644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5.7%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264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~$239K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2644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Top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32644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Depto. exclusivo de Astrofísica, proyecto WFIRST NASA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3749039"/>
            <a:ext cx="11612880" cy="5029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Stanford University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37947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Stanford, 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37947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$62,484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37947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3.7%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379475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~$250K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37947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Top 5 QS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79475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KIPAC, SLAC Lab, Silicon Valley tech espacial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" y="4279392"/>
            <a:ext cx="116128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43251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U. of Chicago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43251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Chicago, 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43251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$66,939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4325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5.2%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43251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~$268K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4325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Top 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43251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Observatorio Yerkes, Fermi Lab, cosmología teórica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" y="4809744"/>
            <a:ext cx="11612880" cy="50292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48554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Columbia University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77440" y="48554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New York, NY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4855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$69,045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7840" y="48554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3.9%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485546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~$276K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48554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Top 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485546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Hayden Planetarium, LIGO, Am. Museum Nat. History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74320" y="5340096"/>
            <a:ext cx="116128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538581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Cornell University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377440" y="53858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Ithaca, NY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0" y="538581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  <a:latin typeface="Calibri"/>
              </a:defRPr>
            </a:pPr>
            <a:r>
              <a:t>$65,204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77840" y="53858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7.9%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0" y="538581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~$261K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538581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Top 15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35440" y="538581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Legado Carl Sagan, James Webb Telescope, planetaria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TOP UNIVERSIDADES PARA ASTRONOMÍA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2FFD8"/>
                </a:solidFill>
                <a:latin typeface="Calibri"/>
              </a:defRPr>
            </a:pPr>
            <a:r>
              <a:t>Universidades Públicas — Mejor Valor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11612880" cy="411480"/>
          </a:xfrm>
          <a:prstGeom prst="roundRect">
            <a:avLst/>
          </a:prstGeom>
          <a:solidFill>
            <a:srgbClr val="006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2161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Universidad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2161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Ubicación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161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Matrícula/Año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2161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Aceptación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2161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Costo 4 Años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2161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2161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Puntos Destacados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1627632"/>
            <a:ext cx="1161288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6733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UC Berkeley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6733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Berkeley, 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67335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$14,850*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673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11.6%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167335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~$59K*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6733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#1 Pública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67335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MEJOR VALOR, Observatorio Lick, programa SETI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2157984"/>
            <a:ext cx="116128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20370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UCLA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203703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Los Angeles, 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203703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$11,678*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2203703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8.6%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203703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~$47K*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203703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Top 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203703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Nobel Andrea Ghez, agujeros negros, matrícula baja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2688336"/>
            <a:ext cx="1161288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7340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U. of Arizona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27340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Tucson, AZ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27340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$12,950*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27340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87%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273405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~$52K*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73405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Top 5 Inv.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734056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MAS ACCESIBLE, Steward Obs., misión OSIRIS-REx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4320" y="3218688"/>
            <a:ext cx="116128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2644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CU Boulder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32644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Boulder, 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32644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$13,194*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77840" y="32644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2644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~$53K*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2644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Top 10 Planet.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32644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LASP, NASA/NOAA, ingeniería aeroespacial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4320" y="3749039"/>
            <a:ext cx="1161288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37947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UH Mānoa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37947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Honolulu, HI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37947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$11,520*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77840" y="37947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379475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~$46K*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37947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Top Observación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3794759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Mauna Kea (mejor sitio del mundo), 13 telescopios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" y="4279392"/>
            <a:ext cx="116128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43251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UC Santa Cruz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43251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Santa Cruz, CA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43251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$14,100*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77840" y="4325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47%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43251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~$56K*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43251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Top 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35440" y="432511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UCO/Lick Observatory, vistas al Pacífico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74320" y="4809744"/>
            <a:ext cx="11612880" cy="502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485546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UIUC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377440" y="485546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Champaign, IL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0" y="48554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CC71"/>
                </a:solidFill>
                <a:latin typeface="Calibri"/>
              </a:defRPr>
            </a:pPr>
            <a:r>
              <a:t>$18,372*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77840" y="48554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45%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66560" y="485546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~$74K*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48554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9688"/>
                </a:solidFill>
                <a:latin typeface="Calibri"/>
              </a:defRPr>
            </a:pPr>
            <a:r>
              <a:t>Top 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485546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15A77"/>
                </a:solidFill>
                <a:latin typeface="Calibri"/>
              </a:defRPr>
            </a:pPr>
            <a:r>
              <a:t>NCSA supercomputación, astronomía computacional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54772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* Matrícula para residentes del estado. No-residentes pagan ~$33K-$45K/año.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COMPARATIVA DE COSTOS: 4 AÑOS DE CARRERA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618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Columbia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280160"/>
            <a:ext cx="6760028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28908" y="1261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~$276K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U. Chicago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618488"/>
            <a:ext cx="6564085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32965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~$268K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938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Cornell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1956816"/>
            <a:ext cx="6392635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1515" y="1938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~$261K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2768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Caltech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2295144"/>
            <a:ext cx="6221185" cy="27432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90065" y="227685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~$254K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Stanford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633472"/>
            <a:ext cx="6123214" cy="274320"/>
          </a:xfrm>
          <a:prstGeom prst="round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2094" y="26151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~$250K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953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MIT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2971800"/>
            <a:ext cx="6074228" cy="274320"/>
          </a:xfrm>
          <a:prstGeom prst="roundRect">
            <a:avLst/>
          </a:prstGeom>
          <a:solidFill>
            <a:srgbClr val="E06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3108" y="29535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~$248K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Princeton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3310128"/>
            <a:ext cx="5853792" cy="274320"/>
          </a:xfrm>
          <a:prstGeom prst="roundRect">
            <a:avLst/>
          </a:prstGeom>
          <a:solidFill>
            <a:srgbClr val="E0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2672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~$239K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3630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Harvard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77440" y="3648456"/>
            <a:ext cx="5780314" cy="274320"/>
          </a:xfrm>
          <a:prstGeom prst="roundRect">
            <a:avLst/>
          </a:prstGeom>
          <a:solidFill>
            <a:srgbClr val="E0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9194" y="36301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~$236K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39684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UIUC*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377440" y="3986784"/>
            <a:ext cx="1812471" cy="2743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81351" y="39684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~$74K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43068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UC Berkeley*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77440" y="4325112"/>
            <a:ext cx="1445078" cy="2743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13958" y="43068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~$59K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46451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UC Santa Cruz*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77440" y="4663440"/>
            <a:ext cx="1371600" cy="2743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79" y="4645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~$56K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49834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CU Boulder*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77440" y="5001768"/>
            <a:ext cx="1298121" cy="2743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67001" y="4983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~$53K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532180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U. Arizona*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77440" y="5340096"/>
            <a:ext cx="1273628" cy="2743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42508" y="53218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~$52K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56601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UCLA*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77440" y="5678424"/>
            <a:ext cx="1151164" cy="2743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20044" y="566013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~$47K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59984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UH Mānoa*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77440" y="6016752"/>
            <a:ext cx="1126671" cy="2743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95551" y="599846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Calibri"/>
              </a:defRPr>
            </a:pPr>
            <a:r>
              <a:t>~$46K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92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88"/>
                </a:solidFill>
                <a:latin typeface="Calibri"/>
              </a:defRPr>
            </a:pPr>
            <a:r>
              <a:t>* Costo para residentes del estado  |  Rojo = Privada  |  Verde = Pública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RECOMENDACIONES POR CATEGORÍA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2004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200400" cy="54864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Mejor Programa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MIT / Caltech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Lideran investigación astronómica global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371600"/>
            <a:ext cx="32004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3200400" cy="54864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508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88"/>
                </a:solidFill>
                <a:latin typeface="Calibri"/>
              </a:defRPr>
            </a:pPr>
            <a:r>
              <a:t>Mejor Valor (Pública)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745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UC Berkeley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Calidad élite con matrícula pública ~$15K/año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19" y="1371600"/>
            <a:ext cx="32004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19" y="1371600"/>
            <a:ext cx="3200400" cy="5486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508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Calibri"/>
              </a:defRPr>
            </a:pPr>
            <a:r>
              <a:t>Más Accesible + Top Inv.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18745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U. of Arizona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286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87% aceptación, Steward Observatory, NASA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08960"/>
            <a:ext cx="32004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108960"/>
            <a:ext cx="3200400" cy="54864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/>
              </a:defRPr>
            </a:pPr>
            <a:r>
              <a:t>Matrícula Más Baja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1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UCLA / UH Mānoa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$11,520-$11,678/año para residentes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3108960"/>
            <a:ext cx="32004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114800" y="3108960"/>
            <a:ext cx="3200400" cy="54864"/>
          </a:xfrm>
          <a:prstGeom prst="round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5196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15A77"/>
                </a:solidFill>
                <a:latin typeface="Calibri"/>
              </a:defRPr>
            </a:pPr>
            <a:r>
              <a:t>Mejor para Observación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61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UH Mānoa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Mauna Kea: el mejor sitio de observación del mundo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19" y="3108960"/>
            <a:ext cx="32004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89519" y="3108960"/>
            <a:ext cx="3200400" cy="54864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26679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E44AD"/>
                </a:solidFill>
                <a:latin typeface="Calibri"/>
              </a:defRPr>
            </a:pPr>
            <a:r>
              <a:t>Mejor Ciencia Planetaria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361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U. Arizona / Cornell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4023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88888"/>
                </a:solidFill>
                <a:latin typeface="Calibri"/>
              </a:defRPr>
            </a:pPr>
            <a:r>
              <a:t>Misiones NASA, legado Carl Sagan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/>
          </a:prstGeom>
          <a:solidFill>
            <a:srgbClr val="1A5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DATO CLAVE: AYUDA FINANCIERA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A5C2D"/>
                </a:solidFill>
              </a:defRPr>
            </a:pPr>
            <a:r>
              <a:t>NO te dejes asustar por los precios</a:t>
            </a:r>
          </a:p>
          <a:p>
            <a:pPr algn="ctr">
              <a:spcBef>
                <a:spcPts val="1200"/>
              </a:spcBef>
              <a:defRPr sz="1800">
                <a:solidFill>
                  <a:srgbClr val="333333"/>
                </a:solidFill>
              </a:defRPr>
            </a:pPr>
            <a:r>
              <a:t>Las universidades privadas más caras son también las que más ayuda financiera dan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1828800" cy="4114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Harvard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3703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Familias con ingresos &lt; $85K/año = GRATIS. &lt; $150K = muy reducida.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60520"/>
            <a:ext cx="1828800" cy="4114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2062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El 93% de estudiantes recibe algún tipo de ayuda financiera.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663440"/>
            <a:ext cx="1828800" cy="4114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091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Princeton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70915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100% basada en necesidad. No usan préstamos, solo becas.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166359"/>
            <a:ext cx="1828800" cy="4114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Stanford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21207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Familias &lt; $75K/año: matrícula + alojamiento = GRATIS.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669279"/>
            <a:ext cx="1828800" cy="4114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71499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Caltech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571499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Becas promedio de $45,000/año para estudiantes con necesidad.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PRÓXIMOS PASOS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1188720"/>
            <a:ext cx="3657600" cy="36576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502920" cy="502920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7190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Definir presupuesto familiar anual para educación universitaria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502920" cy="502920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359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Investigar programas de ayuda financiera y becas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502920" cy="502920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9992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Visitar los campus de 3-5 universidades preferidas (tours virtuales disponibles)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566160"/>
            <a:ext cx="502920" cy="502920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6393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Preparar exámenes SAT/ACT (requeridos por la mayoría)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206240"/>
            <a:ext cx="502920" cy="502920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2793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Considerar programas de verano de astronomía para jóvenes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846320"/>
            <a:ext cx="502920" cy="502920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9194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Para universidades de California: investigar requisitos de residencia (1 año previo)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486400"/>
            <a:ext cx="502920" cy="502920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1B2A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55595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Aplicar a múltiples universidades en diferentes niveles de selectividad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Calibri"/>
              </a:defRPr>
            </a:pPr>
            <a:r>
              <a:t>Preparado con datos actualizados a Febrero 2026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784848"/>
            <a:ext cx="12191695" cy="73152"/>
          </a:xfrm>
          <a:prstGeom prst="round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